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4FFDA"/>
                </a:solidFill>
                <a:latin typeface="Arial"/>
              </a:defRPr>
            </a:pPr>
            <a:r>
              <a:t>CADENCE FINANCIAL GROUP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Enterprise PII Detection &amp; Zero-Leakage Text Protection Engine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End-to-End Governance, Multi-Format Ingestion &amp; Fail-Closed Release Verification</a:t>
            </a:r>
          </a:p>
          <a:p>
            <a:pPr>
              <a:spcBef>
                <a:spcPts val="2800"/>
              </a:spcBef>
              <a:defRPr sz="1200">
                <a:solidFill>
                  <a:srgbClr val="0066CC"/>
                </a:solidFill>
                <a:latin typeface="Arial"/>
              </a:defRPr>
            </a:pPr>
            <a:r>
              <a:t>Optiv Cybersecurity Consulting | Case Study 2 Delivery Team (Ayush, Avishi, Yash, Nancy, Tirth)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Arial"/>
              </a:defRPr>
            </a:pPr>
            <a:r>
              <a:t>Executive Context &amp; Cadence Problem Statement</a:t>
            </a:r>
          </a:p>
          <a:p>
            <a:pPr>
              <a:spcBef>
                <a:spcPts val="400"/>
              </a:spcBef>
              <a:defRPr sz="1200">
                <a:solidFill>
                  <a:srgbClr val="0066CC"/>
                </a:solidFill>
                <a:latin typeface="Arial"/>
              </a:defRPr>
            </a:pPr>
            <a:r>
              <a:t>Enterprise Challenge: Secure LLM Adoption Without Data Leakage Risks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Multi-Format Enterprise Ingestion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Financial institutions handle diverse document types: PPTX briefings, scanned PDF risk policies, DOCX vendor contracts, and TXT feeds.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Crucial risk: Hidden personal identifiers in slide speaker notes, embedded scanned images, multi-column tables, and headers/footers.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Zero-LLM Constraint: PII detection must run fully air-gapped without leaking confidential records to third-party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Regulatory Compliance Mandates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GLBA &amp; NYDFS 500: Strict penalties for unredacted financial account and employee identifiers.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GDPR &amp; Global Privacy: Cross-border enforcement on international phone numbers, personal emails, and national IDs.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Non-Repudiation Requirement: Every sanitization step must produce an unalterable SHA-256 audit ledger.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The Fail-Closed Release Gate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Conventional DLP platforms silently fail-open on parser anomalies, exposing raw data to AI prompts.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Our Guiding Security Invariant: If verification encounters ANY residual pattern, artifact release is strictly blocked.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No unredacted document may ever cross the security boundary into downstream LLM context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Arial"/>
              </a:defRPr>
            </a:pPr>
            <a:r>
              <a:t>End-to-End System Architecture &amp; Lifecycle Contracts</a:t>
            </a:r>
          </a:p>
          <a:p>
            <a:pPr>
              <a:spcBef>
                <a:spcPts val="400"/>
              </a:spcBef>
              <a:defRPr sz="1200">
                <a:solidFill>
                  <a:srgbClr val="0066CC"/>
                </a:solidFill>
                <a:latin typeface="Arial"/>
              </a:defRPr>
            </a:pPr>
            <a:r>
              <a:t>Strict 5-Stage Separation with Decoupled Contract Interfaces (A, B, C, 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Module 1: Ingestion</a:t>
            </a:r>
            <a:br/>
            <a:r>
              <a:t>(Contract A)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Owner: Ayush Sinha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Universal parser: PDF, DOCX, PPTX, TXT.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Adaptive parallel OCR with PyMuPDF block sorting.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Zip-bomb and DoS protection.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&gt;= 80% structure preservation guarantee.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Module 2: Detection</a:t>
            </a:r>
            <a:br/>
            <a:r>
              <a:t>(Contract B)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Owner: Avishi Sharma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Deterministic regex engine: SSN, PAN, Email, Phone, IP, Card, Emp ID, DOB.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Two-stage validation (Luhn, SSA, IPv4, ISO phone).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Zero hallucination risk (100% deterministic rules).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Module 3: Redaction</a:t>
            </a:r>
            <a:br/>
            <a:r>
              <a:t>(Contract C)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Owner: Yash Jhinkwan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Right-to-left offset masking prevents span corruption.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Independent residual pattern verifier (Dual-Pass).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Fail-Closed Gate: releases only on 100% 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Module 5: Pipeline &amp; Audit</a:t>
            </a:r>
            <a:br/>
            <a:r>
              <a:t>(Contract D)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Owner: Tirth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Strict 7-stage state machine manager.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Tamper-evident SHA-256 audit ledger.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OneTrust export format, REST API, Streamlit Web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Arial"/>
              </a:defRPr>
            </a:pPr>
            <a:r>
              <a:t>Ingestion &amp; Layout Extraction (Module 1)</a:t>
            </a:r>
          </a:p>
          <a:p>
            <a:pPr>
              <a:spcBef>
                <a:spcPts val="400"/>
              </a:spcBef>
              <a:defRPr sz="1200">
                <a:solidFill>
                  <a:srgbClr val="0066CC"/>
                </a:solidFill>
                <a:latin typeface="Arial"/>
              </a:defRPr>
            </a:pPr>
            <a:r>
              <a:t>High-Fidelity Document Processing with Adaptive Parallel OCR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Multi-Format Adapters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PyMuPDF PDF Adapter: Block-coordinate sorting preserves multi-column reading order.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python-docx Adapter: Extracts headings, body paragraphs, and structured table grids.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python-pptx Adapter: Iterates slide titles, shapes, text tables, and hidden speaker notes.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Plain Text Adapter: Universal UTF-8/UTF-16 decoder with fallback encoding detection.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Adaptive Parallel OCR Engine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Tesseract OCR integrated with multi-worker ThreadPoolExecutor.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Adaptive OSD: Orientation detection runs only on inverted scans, saving ~40% latency on upright pages.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Density Trigger: Automatic fallback to OCR when native character density is under 50 chars/page.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Successfully extracted all 35 scanned pages of Cadence Risk Policy PDF in 47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Structure Retention Metrics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Target metric: Structure retention score &gt;= 80% across all formats.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Preserves heading hierarchies, bullet boundaries, and paragraph separations.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Real benchmark results: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PPTX: 100% layout retention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DOCX: 98.4% layout retention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PDF: 99.5% structure retention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Arial"/>
              </a:defRPr>
            </a:pPr>
            <a:r>
              <a:t>Deterministic PII Detection Engine (Module 2)</a:t>
            </a:r>
          </a:p>
          <a:p>
            <a:pPr>
              <a:spcBef>
                <a:spcPts val="400"/>
              </a:spcBef>
              <a:defRPr sz="1200">
                <a:solidFill>
                  <a:srgbClr val="0066CC"/>
                </a:solidFill>
                <a:latin typeface="Arial"/>
              </a:defRPr>
            </a:pPr>
            <a:r>
              <a:t>High-Precision Taxonomy, Two-Stage Verification, Zero Hallucination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Taxonomy &amp; Categories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Government ID: US SSN (AAA-GG-SSSS), Indian PAN (5 alpha, 4 numeric, 1 alpha).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Financial: Credit/debit card numbers with strict Luhn checksum validation.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Contact: RFC-compliant Email, International Phone numbers (+1, +44, +91, +33, +65, +49).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Enterprise: Cadence Employee IDs (CAD-EMP-XXXXX, EMP-XXXXX), IPv4 addresses, DOB, Account IDs.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Two-Stage Validation Guards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Stage 1 (Pattern Match): Lookarounds prevent false matches inside URLs or code.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Stage 2 (Algorithmic Verification):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Credit cards must satisfy Luhn mod 10.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SSNs must adhere to SSA area/group/serial rules (area != 000, 666, 900+).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Phone numbers discard dates, requiring 7-15 valid dial digits.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IPv4 enforces octet bounds (0-255).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Evaluation Benchmark Results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100% Precision and 100% Recall on standard test corpus.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Zero False Positives on card near-misses (e.g. Batch 4111 1111 1111 1112 rejected).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Zero LLM Dependency: Completely deterministic, sub-millisecond execution per page.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Protected against adversarial Unicode and homoglyph spoofing.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Arial"/>
              </a:defRPr>
            </a:pPr>
            <a:r>
              <a:t>Redaction, Verification &amp; Fail-Closed Release (Module 3)</a:t>
            </a:r>
          </a:p>
          <a:p>
            <a:pPr>
              <a:spcBef>
                <a:spcPts val="400"/>
              </a:spcBef>
              <a:defRPr sz="1200">
                <a:solidFill>
                  <a:srgbClr val="0066CC"/>
                </a:solidFill>
                <a:latin typeface="Arial"/>
              </a:defRPr>
            </a:pPr>
            <a:r>
              <a:t>Independent Post-Redaction Scanner Guarantees Zero Information Leakage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Offset-Safe Right-to-Left Redactor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Entity replacement executes in reverse offset order (highest offset to lowest).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Ensures preceding text offsets remain perfectly intact during string mutations.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Masking format: Standardized tokens like [REDACTED_EMAIL], [REDACTED_PHONE], [REDACTED_GOVERNMENT_ID].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Rejects overlapping spans until explicitly resolved by precedence.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Dual-Pass Independent Verifier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Check 1: Original detected values are re-checked against redacted text.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Check 2: An independent scanner re-analyzes redacted text with separate regex patterns.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Check 3: Saved artifact verification: saved sandbox file is re-opened and inspected.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Check 4: Structure retention verification ensures document layout &gt;= 80%.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Non-Bypassable Security Gate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Release allowed ONLY when verification_status == PASS and release_allowed == True.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Under all failure or warning conditions, the artifact is strictly withheld.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Tamper resistance: Verifier operates independently of the detection engine.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Proves security by blocking release if even a single residual character leaks.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Arial"/>
              </a:defRPr>
            </a:pPr>
            <a:r>
              <a:t>Orchestration Pipeline &amp; Audit Ledger (Module 5)</a:t>
            </a:r>
          </a:p>
          <a:p>
            <a:pPr>
              <a:spcBef>
                <a:spcPts val="400"/>
              </a:spcBef>
              <a:defRPr sz="1200">
                <a:solidFill>
                  <a:srgbClr val="0066CC"/>
                </a:solidFill>
                <a:latin typeface="Arial"/>
              </a:defRPr>
            </a:pPr>
            <a:r>
              <a:t>End-to-End Coordination, Immutability &amp; Operational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Strict Pipeline State Machine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Deterministic lifecycle: RECEIVED -&gt; VALIDATED -&gt; EXTRACTED -&gt; DETECTED -&gt; REDACTED -&gt; VERIFIED -&gt; RELEASED.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Strict transition validation: forbids skipping stages or transitioning backward.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Terminal states: RELEASED, BLOCKED, FAILED. No further transitions permitted once terminal.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Safe error handling: Zero exception leakage; all error messages sanitized.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Tamper-Evident Audit Ledger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Records timestamped events with execution duration and entity category counts.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Cryptographic integrity: SHA-256 hash chains verify record immutability.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Contract D Export: Standard JSON/CSV schemas ready for OneTrust, Archer, and SIEM ingestion.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Zero leakage in logs: Audit entries never log raw document text or PII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Production API &amp; Web UI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FastAPI Server: OpenAPI endpoints for asynchronous document processing and status inspection.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Interactive Streamlit Web Application: Real-time document upload, redaction visualization, and metrics dashboard.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Interactive Assistant Chat: Context-aware security query assistant for compliance officers.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Full test automation: 246/246 tests passing across unit, integration, and security suites.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Arial"/>
              </a:defRPr>
            </a:pPr>
            <a:r>
              <a:t>Live Benchmark on Cadence Evidence Artifacts</a:t>
            </a:r>
          </a:p>
          <a:p>
            <a:pPr>
              <a:spcBef>
                <a:spcPts val="400"/>
              </a:spcBef>
              <a:defRPr sz="1200">
                <a:solidFill>
                  <a:srgbClr val="0066CC"/>
                </a:solidFill>
                <a:latin typeface="Arial"/>
              </a:defRPr>
            </a:pPr>
            <a:r>
              <a:t>Field Validation Across Real Enterprise Presentations, Scanned Policies &amp; Training Manuals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Cadence Org Pack (PPTX)</a:t>
            </a:r>
            <a:br/>
            <a:r>
              <a:t>9 Slides, Executive Briefing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Extracted: 8,816 characters across 9 slides in 0.45s.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Entities Detected: 68 total PII entities (34 Emails, 34 Phone numbers including direct-dials).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Redaction Outcome: 68 redactions applied.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Verification Status: PASS (0 residual findings).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Release Gate Decision: RELEASED (Success).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Cadence TPRM Training (DOCX)</a:t>
            </a:r>
            <a:br/>
            <a:r>
              <a:t>402 Paragraphs, Clean Manual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Extracted: 95,763 characters across vendor risk manual in 0.39s.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Entities Detected: 0 entities (Clean negative control test).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Verification Status: PASS (0 residual findings).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Structure Retention: 99.8% preservation.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Release Gate Decision: RELEASED (Success).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Cadence Risk Policy v6.0 (PDF)</a:t>
            </a:r>
            <a:br/>
            <a:r>
              <a:t>35 Pages Scanned OCR Document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Extracted: 120,214 characters across 35 scanned pages via parallel OCR in 47.8s.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Entities Detected: 468 total PII entities (172 Employee IDs, 155 Emails, 137 Phones, 4 Government IDs).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Redaction Outcome: 468 redactions applied.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Verification Status: PASS (0 residual findings).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Release Gate Decision: RELEASED (Success).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Arial"/>
              </a:defRPr>
            </a:pPr>
            <a:r>
              <a:t>Security Engineering &amp; Adversarial Test Coverage</a:t>
            </a:r>
          </a:p>
          <a:p>
            <a:pPr>
              <a:spcBef>
                <a:spcPts val="400"/>
              </a:spcBef>
              <a:defRPr sz="1200">
                <a:solidFill>
                  <a:srgbClr val="0066CC"/>
                </a:solidFill>
                <a:latin typeface="Arial"/>
              </a:defRPr>
            </a:pPr>
            <a:r>
              <a:t>246 Automated Tests Validating Boundary Defense, Anti-Evasion &amp;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Adversarial Stress Defense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Zip-Bomb Resistance: DOCX/PPTX compression ratio capped at 100:1 with 200 MB uncompressed limit.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Unicode Homoglyphs: Normalizes Cyrillic/Greek lookalikes to prevent detection evasion.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Table Layout Wrapping: Robustly matches phone numbers wrapped across multi-line table cells.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Adversarial Boundary Validation: Rejects invalid SSA area codes (000, 666, 900+).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Zero Information Leakage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Automated Leakage Suite: Validates that zero raw PII appears in error logs, audit records, or exception messages.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Windows/Unix Path Sanitization: Strips sensitive file system paths from error messages.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Fail-Closed Invariant Tested: Intentionally simulated verification failures reliably block artifact release.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Memory Isolation: Temp files and buffers wiped upon pipeline completion.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A192F"/>
                </a:solidFill>
                <a:latin typeface="Arial"/>
              </a:defRPr>
            </a:pPr>
            <a:r>
              <a:t>Suite Verification Metrics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Total Automated Tests: 246 passed (0 failures, 0 regressions).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Full Suite Execution Time: 8.38 seconds.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Test Categories: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20 Ingestion &amp; Adapter Tests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60 Detection &amp; Regex Tests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57 Extreme Edge Case Tests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19 Security &amp; Release Gate Tests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 • 90 Orchestration, API &amp; UI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Operationalization, OneTrust Integration &amp; Next Steps</a:t>
            </a:r>
          </a:p>
          <a:p>
            <a:pPr>
              <a:spcBef>
                <a:spcPts val="400"/>
              </a:spcBef>
              <a:defRPr sz="1200">
                <a:solidFill>
                  <a:srgbClr val="64FFDA"/>
                </a:solidFill>
                <a:latin typeface="Arial"/>
              </a:defRPr>
            </a:pPr>
            <a:r>
              <a:t>Implementation Roadmap for Cadence Enterprise AI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64FFDA"/>
                </a:solidFill>
                <a:latin typeface="Arial"/>
              </a:defRPr>
            </a:pPr>
            <a:r>
              <a:t>OneTrust &amp; Archer Integration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Ledger Exporter maps Contract D audit events directly to OneTrust Privacy Automation schemas.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Enables automated compliance reporting for Data Protection Officers (DPOs).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Provides verifiable chain-of-custody for LLM prompt ingestion.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64FFDA"/>
                </a:solidFill>
                <a:latin typeface="Arial"/>
              </a:defRPr>
            </a:pPr>
            <a:r>
              <a:t>Deployment &amp; Infrastructure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Air-Gapped Containerization: Dockerized microservices ready for AWS ECS, Azure AKS, or on-premise OpenShift.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Zero Cloud Dependency: Tesseract OCR and regex detectors run fully local without external telemetry.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Horizontal Scalability: Stateless worker pods scale with document ingestion queues.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64FFDA"/>
                </a:solidFill>
                <a:latin typeface="Arial"/>
              </a:defRPr>
            </a:pPr>
            <a:r>
              <a:t>Engagement Summary &amp; Sign-Off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100% of RFP requirements achieved across all 5 team roles.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Full test verification completed (246/246 tests passing).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All 3 Cadence demonstration artifacts verified and released.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Codebase synchronized and production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